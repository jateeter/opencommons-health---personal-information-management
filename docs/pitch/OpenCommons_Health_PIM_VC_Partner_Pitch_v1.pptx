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75d0ef3c64e73" /><Relationship Type="http://schemas.openxmlformats.org/officeDocument/2006/relationships/extended-properties" Target="/docProps/app.xml" Id="Rfb8ccc2b6e77437e" /><Relationship Type="http://schemas.openxmlformats.org/officeDocument/2006/relationships/officeDocument" Target="/ppt/presentation.xml" Id="Rd679a4aee4f343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731bfb1944b36"/>
  </p:sldMasterIdLst>
  <p:notesMasterIdLst>
    <p:notesMasterId xmlns:r="http://schemas.openxmlformats.org/officeDocument/2006/relationships" r:id="R6aad72a0d35b4e50"/>
  </p:notesMasterIdLst>
  <p:sldIdLst>
    <p:sldId xmlns:r="http://schemas.openxmlformats.org/officeDocument/2006/relationships" id="256" r:id="R1cb8a6c55e6a49e8"/>
    <p:sldId xmlns:r="http://schemas.openxmlformats.org/officeDocument/2006/relationships" id="257" r:id="R4ef87e41d8c74235"/>
    <p:sldId xmlns:r="http://schemas.openxmlformats.org/officeDocument/2006/relationships" id="258" r:id="Rb1ecacb2773940bb"/>
    <p:sldId xmlns:r="http://schemas.openxmlformats.org/officeDocument/2006/relationships" id="259" r:id="Rea420344b8774af9"/>
    <p:sldId xmlns:r="http://schemas.openxmlformats.org/officeDocument/2006/relationships" id="260" r:id="R0f77a21eab5c40eb"/>
    <p:sldId xmlns:r="http://schemas.openxmlformats.org/officeDocument/2006/relationships" id="261" r:id="R4c849d3cbe0e436e"/>
    <p:sldId xmlns:r="http://schemas.openxmlformats.org/officeDocument/2006/relationships" id="262" r:id="R7d8d2ae89dd64737"/>
    <p:sldId xmlns:r="http://schemas.openxmlformats.org/officeDocument/2006/relationships" id="263" r:id="R73da1aa1521644af"/>
    <p:sldId xmlns:r="http://schemas.openxmlformats.org/officeDocument/2006/relationships" id="264" r:id="R4b6ba82bc0b14125"/>
    <p:sldId xmlns:r="http://schemas.openxmlformats.org/officeDocument/2006/relationships" id="265" r:id="Rc916b2edf5ab4130"/>
    <p:sldId xmlns:r="http://schemas.openxmlformats.org/officeDocument/2006/relationships" id="266" r:id="Ra82b3d0ff0654a43"/>
    <p:sldId xmlns:r="http://schemas.openxmlformats.org/officeDocument/2006/relationships" id="267" r:id="R91f7fb1e7f5c48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c9c4904004764" /><Relationship Type="http://schemas.openxmlformats.org/officeDocument/2006/relationships/slideMaster" Target="/ppt/slideMasters/slideMaster1.xml" Id="R348731bfb1944b36" /><Relationship Type="http://schemas.openxmlformats.org/officeDocument/2006/relationships/notesMaster" Target="/ppt/notesMasters/notesMaster1.xml" Id="R6aad72a0d35b4e50" /><Relationship Type="http://schemas.openxmlformats.org/officeDocument/2006/relationships/presProps" Target="/ppt/presProps.xml" Id="Rc313541da1e94534" /><Relationship Type="http://schemas.openxmlformats.org/officeDocument/2006/relationships/tableStyles" Target="/ppt/tableStyles.xml" Id="R6479645f7d234c86" /><Relationship Type="http://schemas.openxmlformats.org/officeDocument/2006/relationships/slide" Target="/ppt/slides/slide1.xml" Id="R1cb8a6c55e6a49e8" /><Relationship Type="http://schemas.openxmlformats.org/officeDocument/2006/relationships/slide" Target="/ppt/slides/slide2.xml" Id="R4ef87e41d8c74235" /><Relationship Type="http://schemas.openxmlformats.org/officeDocument/2006/relationships/slide" Target="/ppt/slides/slide3.xml" Id="Rb1ecacb2773940bb" /><Relationship Type="http://schemas.openxmlformats.org/officeDocument/2006/relationships/slide" Target="/ppt/slides/slide4.xml" Id="Rea420344b8774af9" /><Relationship Type="http://schemas.openxmlformats.org/officeDocument/2006/relationships/slide" Target="/ppt/slides/slide5.xml" Id="R0f77a21eab5c40eb" /><Relationship Type="http://schemas.openxmlformats.org/officeDocument/2006/relationships/slide" Target="/ppt/slides/slide6.xml" Id="R4c849d3cbe0e436e" /><Relationship Type="http://schemas.openxmlformats.org/officeDocument/2006/relationships/slide" Target="/ppt/slides/slide7.xml" Id="R7d8d2ae89dd64737" /><Relationship Type="http://schemas.openxmlformats.org/officeDocument/2006/relationships/slide" Target="/ppt/slides/slide8.xml" Id="R73da1aa1521644af" /><Relationship Type="http://schemas.openxmlformats.org/officeDocument/2006/relationships/slide" Target="/ppt/slides/slide9.xml" Id="R4b6ba82bc0b14125" /><Relationship Type="http://schemas.openxmlformats.org/officeDocument/2006/relationships/slide" Target="/ppt/slides/slide10.xml" Id="Rc916b2edf5ab4130" /><Relationship Type="http://schemas.openxmlformats.org/officeDocument/2006/relationships/slide" Target="/ppt/slides/slide11.xml" Id="Ra82b3d0ff0654a43" /><Relationship Type="http://schemas.openxmlformats.org/officeDocument/2006/relationships/slide" Target="/ppt/slides/slide12.xml" Id="R91f7fb1e7f5c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0a4876ac348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dd3c24180a4c9b" /><Relationship Type="http://schemas.openxmlformats.org/officeDocument/2006/relationships/notesMaster" Target="/ppt/notesMasters/notesMaster1.xml" Id="Rf841b190751e4d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713d6bc6ce4c18" /><Relationship Type="http://schemas.openxmlformats.org/officeDocument/2006/relationships/notesMaster" Target="/ppt/notesMasters/notesMaster1.xml" Id="R052ed908a79b4e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41e3c146054a0e" /><Relationship Type="http://schemas.openxmlformats.org/officeDocument/2006/relationships/notesMaster" Target="/ppt/notesMasters/notesMaster1.xml" Id="Rac7526d3029642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b5cfeb3be14805" /><Relationship Type="http://schemas.openxmlformats.org/officeDocument/2006/relationships/notesMaster" Target="/ppt/notesMasters/notesMaster1.xml" Id="R8fd7c98d29b149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eae78efe10431c" /><Relationship Type="http://schemas.openxmlformats.org/officeDocument/2006/relationships/notesMaster" Target="/ppt/notesMasters/notesMaster1.xml" Id="Rdb6f0934c45742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911998b5b4f70" /><Relationship Type="http://schemas.openxmlformats.org/officeDocument/2006/relationships/notesMaster" Target="/ppt/notesMasters/notesMaster1.xml" Id="R4520c4c5e4044a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aef0e83e24b3c" /><Relationship Type="http://schemas.openxmlformats.org/officeDocument/2006/relationships/notesMaster" Target="/ppt/notesMasters/notesMaster1.xml" Id="R884ae2e4398c42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d30541dcac4be3" /><Relationship Type="http://schemas.openxmlformats.org/officeDocument/2006/relationships/notesMaster" Target="/ppt/notesMasters/notesMaster1.xml" Id="R466352f29b3e4f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358586c00c466c" /><Relationship Type="http://schemas.openxmlformats.org/officeDocument/2006/relationships/notesMaster" Target="/ppt/notesMasters/notesMaster1.xml" Id="R3a49a1dad2cf49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dc624b40ee4a0d" /><Relationship Type="http://schemas.openxmlformats.org/officeDocument/2006/relationships/notesMaster" Target="/ppt/notesMasters/notesMaster1.xml" Id="Ra300dd83746343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5c6d7db7304d93" /><Relationship Type="http://schemas.openxmlformats.org/officeDocument/2006/relationships/notesMaster" Target="/ppt/notesMasters/notesMaster1.xml" Id="Re306a6f5019849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015397c63b4d82" /><Relationship Type="http://schemas.openxmlformats.org/officeDocument/2006/relationships/notesMaster" Target="/ppt/notesMasters/notesMaster1.xml" Id="Rb4499ec52fec40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category: this is not another portal. It is an owner-controlled health data layer around standards, local storage, and permissioned exchange.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both market size and trust pressure. The claim is not that OpenCommons solves every breach risk; the claim is that local-first architecture changes the default custody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CMS National Health Expenditure Data, NHE Fact Sheet / Historical NHE 2024: U.S. health care spending grew 7.2% to $5.3T in 2024 and accounted for 18.0% of GDP. https://www.cms.gov/data-research/statistics-trends-and-reports/national-health-expenditure-data/nhe-fact-sheet</a:t>
            </a:r>
          </a:p>
          <a:p xmlns:a="http://schemas.openxmlformats.org/drawingml/2006/main">
            <a:r>
              <a:t>- HHS OCR Breach Portal lists reported breaches of unsecured protected health information affecting 500 or more individuals. https://ocrportal.hhs.gov/ocr/breach/breach_report.jsf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timing, not technology novelty. The standards have matured enough for a patient-owned layer to be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HL7 SMART App Launch describes OAuth-based authorization/authentication patterns, standalone patient launch, discovery at .well-known/smart-configuration, and patient scopes. https://hl7.org/fhir/smart-app-launch/STU2/</a:t>
            </a:r>
          </a:p>
          <a:p xmlns:a="http://schemas.openxmlformats.org/drawingml/2006/main">
            <a:r>
              <a:t>- CMS Patient Access API FAQ: impacted payers must make claims/encounter data and maintained clinical data available through a FHIR-based API. https://www.cms.gov/priorities/burden-reduction/overview/interoperability/frequently-asked-questions/patient-access-api</a:t>
            </a:r>
          </a:p>
          <a:p xmlns:a="http://schemas.openxmlformats.org/drawingml/2006/main">
            <a:r>
              <a:t>- Repository source: docs/EPIC_INTEGRATION_ROADMAP.md, Epic data stream, document, workflow, and Annual Medicare Wellness use-case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architecture slide. Keep current scope honest: local/container MVP, not production clinical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  <a:p xmlns:a="http://schemas.openxmlformats.org/drawingml/2006/main">
            <a:r>
              <a:t>- Repository source: docs/DEFINITIVE_MVP_DOCUMENTATION_CORPUS.md, current MVP truth and scope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strategic claim. It is architectural, not regulatory overreach: local-first custody and owner-mediated workflows are the differentiator.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Annual Medicare Wellness is the v1 anchor use case because it naturally spans demographics, medications, conditions, vitals, labs, documents, insurance, and preventive workflow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docs/EPIC_INTEGRATION_ROADMAP.md, Epic data stream, document, workflow, and Annual Medicare Wellness use-case roadmap.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architecture into partner value. The strongest partner promise is controlled collaboration, not data extraction.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CMS Patient Access API FAQ: impacted payers must make claims/encounter data and maintained clinical data available through a FHIR-based API. https://www.cms.gov/priorities/burden-reduction/overview/interoperability/frequently-asked-questions/patient-access-api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as a model hypothesis, not an executed revenue claim. The v1 pitch asks for partners and capital to validate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patent-heavy moat slide; it is an execution moat. The project is differentiated by consistent privacy architecture and practical integration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  <a:p xmlns:a="http://schemas.openxmlformats.org/drawingml/2006/main">
            <a:r>
              <a:t>- Repository source: docs/DEFINITIVE_MVP_DOCUMENTATION_CORPUS.md, current MVP truth and scope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partner/investor roadmap. Current JWT bearer work is still source-level until deployed and validated with Epic dynamic client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docs/DEFINITIVE_MVP_DOCUMENTATION_CORPUS.md, current MVP truth and scope boundaries.</a:t>
            </a:r>
          </a:p>
          <a:p xmlns:a="http://schemas.openxmlformats.org/drawingml/2006/main">
            <a:r>
              <a:t>- Repository source: docs/EPIC_INTEGRATION_ROADMAP.md, Epic data stream, document, workflow, and Annual Medicare Wellness use-case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synthesis slide. It connects investor category logic to strategic partner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CMS National Health Expenditure Data, NHE Fact Sheet / Historical NHE 2024: U.S. health care spending grew 7.2% to $5.3T in 2024 and accounted for 18.0% of GDP. https://www.cms.gov/data-research/statistics-trends-and-reports/national-health-expenditure-data/nhe-fact-sheet</a:t>
            </a:r>
          </a:p>
          <a:p xmlns:a="http://schemas.openxmlformats.org/drawingml/2006/main">
            <a:r>
              <a:t>- HL7 SMART App Launch describes OAuth-based authorization/authentication patterns, standalone patient launch, discovery at .well-known/smart-configuration, and patient scopes. https://hl7.org/fhir/smart-app-launch/STU2/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concrete asks. For a VC audience, ask for capital plus design partners. For a strategic audience, ask for a scoped pilot with defined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docs/DEFINITIVE_MVP_DOCUMENTATION_CORPUS.md, current MVP truth and scope boundaries.</a:t>
            </a:r>
          </a:p>
          <a:p xmlns:a="http://schemas.openxmlformats.org/drawingml/2006/main">
            <a:r>
              <a:t>- Repository source: docs/EPIC_INTEGRATION_ROADMAP.md, Epic data stream, document, workflow, and Annual Medicare Wellness use-case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87a435b4041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b52d308eb445bc" /><Relationship Type="http://schemas.openxmlformats.org/officeDocument/2006/relationships/slideLayout" Target="/ppt/slideLayouts/slideLayout1.xml" Id="R7c3bb42b5e9a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3bb42b5e9a45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c881be9bc4529" /><Relationship Type="http://schemas.openxmlformats.org/officeDocument/2006/relationships/image" Target="/ppt/media/image.png" Id="R98dee4163a974697" /><Relationship Type="http://schemas.openxmlformats.org/officeDocument/2006/relationships/notesSlide" Target="/ppt/notesSlides/notesSlide1.xml" Id="R059082c3b03542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dce307bb8419a" /><Relationship Type="http://schemas.openxmlformats.org/officeDocument/2006/relationships/image" Target="/ppt/media/image2.png" Id="R0225d687ea9643da" /><Relationship Type="http://schemas.openxmlformats.org/officeDocument/2006/relationships/notesSlide" Target="/ppt/notesSlides/notesSlide2.xml" Id="Redf7c3b579ce49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576c91b784b9e" /><Relationship Type="http://schemas.openxmlformats.org/officeDocument/2006/relationships/image" Target="/ppt/media/image3.png" Id="R698fe801d5da4a62" /><Relationship Type="http://schemas.openxmlformats.org/officeDocument/2006/relationships/notesSlide" Target="/ppt/notesSlides/notesSlide3.xml" Id="R2c2add977d164f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cfe53f1e14ff8" /><Relationship Type="http://schemas.openxmlformats.org/officeDocument/2006/relationships/image" Target="/ppt/media/image4.png" Id="Rb20ff9b5bbeb4a8c" /><Relationship Type="http://schemas.openxmlformats.org/officeDocument/2006/relationships/notesSlide" Target="/ppt/notesSlides/notesSlide4.xml" Id="Rda7572edc2a944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99a716c674433" /><Relationship Type="http://schemas.openxmlformats.org/officeDocument/2006/relationships/image" Target="/ppt/media/image5.png" Id="R3cd5ef9abd224d8f" /><Relationship Type="http://schemas.openxmlformats.org/officeDocument/2006/relationships/notesSlide" Target="/ppt/notesSlides/notesSlide5.xml" Id="Rf528437a3f3149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2b98f21564b83" /><Relationship Type="http://schemas.openxmlformats.org/officeDocument/2006/relationships/image" Target="/ppt/media/image6.png" Id="R436148bf5e624f93" /><Relationship Type="http://schemas.openxmlformats.org/officeDocument/2006/relationships/notesSlide" Target="/ppt/notesSlides/notesSlide6.xml" Id="R2a10a64ef28943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ffd2e6417488c" /><Relationship Type="http://schemas.openxmlformats.org/officeDocument/2006/relationships/image" Target="/ppt/media/image7.png" Id="Re2c49c4ad75e4492" /><Relationship Type="http://schemas.openxmlformats.org/officeDocument/2006/relationships/notesSlide" Target="/ppt/notesSlides/notesSlide7.xml" Id="R0b9658d5a7f546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2b0623702449d" /><Relationship Type="http://schemas.openxmlformats.org/officeDocument/2006/relationships/image" Target="/ppt/media/image8.png" Id="R388184ce9c764d4c" /><Relationship Type="http://schemas.openxmlformats.org/officeDocument/2006/relationships/notesSlide" Target="/ppt/notesSlides/notesSlide8.xml" Id="R6a1b3e61f72d4e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b837fb29a447c" /><Relationship Type="http://schemas.openxmlformats.org/officeDocument/2006/relationships/image" Target="/ppt/media/image9.png" Id="Rdf96d00e65c443aa" /><Relationship Type="http://schemas.openxmlformats.org/officeDocument/2006/relationships/notesSlide" Target="/ppt/notesSlides/notesSlide9.xml" Id="Rf97cbb793a274e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2b92b615b4af4" /><Relationship Type="http://schemas.openxmlformats.org/officeDocument/2006/relationships/image" Target="/ppt/media/image10.png" Id="Rc57422b81a6946fc" /><Relationship Type="http://schemas.openxmlformats.org/officeDocument/2006/relationships/notesSlide" Target="/ppt/notesSlides/notesSlide10.xml" Id="Rd4e386c0ddf544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5148f3fa1425a" /><Relationship Type="http://schemas.openxmlformats.org/officeDocument/2006/relationships/image" Target="/ppt/media/image11.png" Id="R34c75523e9604b0a" /><Relationship Type="http://schemas.openxmlformats.org/officeDocument/2006/relationships/notesSlide" Target="/ppt/notesSlides/notesSlide11.xml" Id="Rc3a704b966af40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de0f550eb4d8c" /><Relationship Type="http://schemas.openxmlformats.org/officeDocument/2006/relationships/image" Target="/ppt/media/image12.png" Id="Rf2acd8abb6e94889" /><Relationship Type="http://schemas.openxmlformats.org/officeDocument/2006/relationships/notesSlide" Target="/ppt/notesSlides/notesSlide12.xml" Id="R89d99a5516ab4c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B3B5B-B505-46E3-9761-2CEEBACF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37E68-3C55-4BF1-B663-42B3C03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ee4163a974697"/>
          <a:stretch xmlns:a="http://schemas.openxmlformats.org/drawingml/2006/main"/>
        </p:blipFill>
        <p:spPr>
          <a:xfrm xmlns:a="http://schemas.openxmlformats.org/drawingml/2006/main">
            <a:off x="723900" y="60960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E01A0-EF69-488D-9962-8379D3B6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620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FBFA"/>
                </a:solidFill>
              </a:defRPr>
            </a:pPr>
            <a:r>
              <a:rPr sz="2100" b="1">
                <a:solidFill>
                  <a:srgbClr val="F9FBFA"/>
                </a:solidFill>
              </a:rPr>
              <a:t>OpenCommons Health PIM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3C2E1-CEC8-4F9F-87C4-FA4A79E5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8001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9FBFA"/>
                </a:solidFill>
              </a:defRPr>
            </a:pPr>
            <a:r>
              <a:rPr sz="4050" b="1">
                <a:solidFill>
                  <a:srgbClr val="F9FBFA"/>
                </a:solidFill>
              </a:rPr>
              <a:t>The personal health data layer for an interoperable healthcare economy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05B8-D528-4854-A31A-527AD31E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ECE5"/>
                </a:solidFill>
              </a:defRPr>
            </a:pPr>
            <a:r>
              <a:rPr sz="1725" b="0">
                <a:solidFill>
                  <a:srgbClr val="CBECE5"/>
                </a:solidFill>
              </a:rPr>
              <a:t>A local-first, standards-aligned platform that lets individuals own, organize, and permission health information — without building yet another centralized PHI database.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34A0A-81AB-4BBD-B207-2BA80CFA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D7C4"/>
                </a:solidFill>
              </a:defRPr>
            </a:pPr>
            <a:r>
              <a:rPr sz="1350" b="1">
                <a:solidFill>
                  <a:srgbClr val="62D7C4"/>
                </a:solidFill>
              </a:rPr>
              <a:t>VC + partner pitch · Version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52CEF-7CD2-4FE2-A0DA-193AE203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v1 pitch  ·  01</a:t>
            </a:r>
          </a:p>
        </p:txBody>
      </p:sp>
    </p:spTree>
    <p:extLst>
      <p:ext uri="{BB962C8B-B14F-4D97-AF65-F5344CB8AC3E}">
        <p14:creationId xmlns:p14="http://schemas.microsoft.com/office/powerpoint/2010/main" val="1187749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C01F7-3298-4301-863C-5A01C81D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40BFB-6B08-4FC8-9CC3-53AAF8E6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1D6FD-3B94-421C-8D34-D221FFD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THE TENSION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B1127-2F63-4DD8-9F71-2153B2C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Healthcare has APIs now. Patients still do not have a trusted control plane.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0AFC9-97D6-4ED9-9D05-74C3DC3E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A1C0-2BAA-43E0-A8B1-D79EFBBF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A58D"/>
                </a:solidFill>
              </a:defRPr>
            </a:pPr>
            <a:r>
              <a:rPr sz="3150" b="1">
                <a:solidFill>
                  <a:srgbClr val="1FA58D"/>
                </a:solidFill>
              </a:rPr>
              <a:t>$5.3T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F63B8-0557-438B-AE57-52B198A1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43B"/>
                </a:solidFill>
              </a:defRPr>
            </a:pPr>
            <a:r>
              <a:rPr sz="1275" b="0">
                <a:solidFill>
                  <a:srgbClr val="23343B"/>
                </a:solidFill>
              </a:rPr>
              <a:t>U.S. health spending in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AD7D-27BB-4A2D-99AA-775080E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7463B-9A94-480D-9FA1-8C3E0B3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C14E"/>
                </a:solidFill>
              </a:defRPr>
            </a:pPr>
            <a:r>
              <a:rPr sz="3150" b="1">
                <a:solidFill>
                  <a:srgbClr val="F2C14E"/>
                </a:solidFill>
              </a:rPr>
              <a:t>18.0%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C5BE0-37D2-45C4-A074-656CD31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38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43B"/>
                </a:solidFill>
              </a:defRPr>
            </a:pPr>
            <a:r>
              <a:rPr sz="1275" b="0">
                <a:solidFill>
                  <a:srgbClr val="23343B"/>
                </a:solidFill>
              </a:rPr>
              <a:t>share of U.S. GDP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0AC65-CC93-4FC4-8CE5-BEEEA5C7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ADA76-79AA-4119-AA0C-921CC69C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6D5B"/>
                </a:solidFill>
              </a:defRPr>
            </a:pPr>
            <a:r>
              <a:rPr sz="3150" b="1">
                <a:solidFill>
                  <a:srgbClr val="F26D5B"/>
                </a:solidFill>
              </a:rPr>
              <a:t>500+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49BEA-599B-46F7-9029-DF6268DA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43B"/>
                </a:solidFill>
              </a:defRPr>
            </a:pPr>
            <a:r>
              <a:rPr sz="1275" b="0">
                <a:solidFill>
                  <a:srgbClr val="23343B"/>
                </a:solidFill>
              </a:rPr>
              <a:t>person PHI breaches listed by HHS OCR portal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7F648-99B4-4B14-A259-7EF9FF52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The market has digitized access, but not agency. Data is fragmented across portals, payers, devices, documents, and local notes — while trust in centralized health-data aggregation keeps getting harder to earn.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8BEC0-7CD8-4AA3-89A3-1F97858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Portals remain institution-centered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C68B6-D5CE-43BA-99FF-6DDD6957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Consumer apps often become another data silo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F7BE6-D921-4CE0-B923-E06FF7B3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9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Partners need standards without taking custody of everything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5d687ea9643da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BE42C-94C6-424C-8DB4-56BEA066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936EB-7907-4218-AD27-E989C091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v1 pitch  ·  02</a:t>
            </a:r>
          </a:p>
        </p:txBody>
      </p:sp>
    </p:spTree>
    <p:extLst>
      <p:ext uri="{BB962C8B-B14F-4D97-AF65-F5344CB8AC3E}">
        <p14:creationId xmlns:p14="http://schemas.microsoft.com/office/powerpoint/2010/main" val="146322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74292-3F1F-4E6B-8214-50E88FDA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06ABB-2B67-4470-B01E-49CDAABA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FB1F5-DF05-4942-AD06-368C23A3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39B12-8B56-43C6-925B-C66DFAB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9FBFA"/>
                </a:solidFill>
              </a:defRPr>
            </a:pPr>
            <a:r>
              <a:rPr sz="2925" b="1">
                <a:solidFill>
                  <a:srgbClr val="F9FBFA"/>
                </a:solidFill>
              </a:rPr>
              <a:t>The interoperability rails are here. The missing layer is patient-owned orchestration.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7C973-A1D3-4C49-BD59-FDDAC21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4FBF2-F3D0-429B-9A05-9DB22CA0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FHIR APIs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E72F9-0500-4EE2-83E0-3D36D4B4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03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D7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744C8-BDE9-4DF9-992A-E4C5C1C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8660D-7AAC-43C8-B143-0F20890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SMART OAuth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4F754-2910-43FE-8EE3-A66CC07D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03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D7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1508F-5F84-49D7-9D4C-44C0EE8E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8BED9-3CBB-40E3-BBD4-EB9479A9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Patient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E9184-E0ED-4520-A132-D019593D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03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D7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B2B2D-5EEC-4CAB-A51E-C44D003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AE956-835E-44E0-9209-3D70446D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Local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AF149-401E-4C31-A59C-589E85DA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03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D7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1E4BA-44FD-478F-932C-0F96FB06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48985-0437-49BF-A589-2757AF00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Owner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F497C-5857-45B1-9136-64F3E659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F2EB"/>
                </a:solidFill>
              </a:defRPr>
            </a:pPr>
            <a:r>
              <a:rPr sz="1875" b="1">
                <a:solidFill>
                  <a:srgbClr val="D7F2EB"/>
                </a:solidFill>
              </a:rPr>
              <a:t>Regulation and standards have shifted the market from closed portals toward API-mediated access. That creates a new opening: applications can compete on trust, workflow, and permissioned data use rather than proprietary capture.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1AF5B-02CD-469B-98CD-39B0A0F8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D6CE"/>
                </a:solidFill>
              </a:defRPr>
            </a:pPr>
            <a:r>
              <a:rPr sz="1575" b="0">
                <a:solidFill>
                  <a:srgbClr val="A9D6CE"/>
                </a:solidFill>
              </a:rPr>
              <a:t>OpenCommons sits above institutional APIs and below partner applications — a neutral owner-controlled layer that can receive, validate, reconcile, and release data by consent.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fe801d5da4a62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FC999-3BF5-4DC6-B9E8-04EE22B0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4C1D2-7C1E-4349-9F3F-0A07D3EF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v1 pitch  ·  03</a:t>
            </a:r>
          </a:p>
        </p:txBody>
      </p:sp>
    </p:spTree>
    <p:extLst>
      <p:ext uri="{BB962C8B-B14F-4D97-AF65-F5344CB8AC3E}">
        <p14:creationId xmlns:p14="http://schemas.microsoft.com/office/powerpoint/2010/main" val="1636527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B0114-3F82-4D72-8DDF-3F1E8858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58CA1-B424-4013-92FF-28BA3587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2B3A1-9CBE-4FF3-9ACF-784CF31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8F0A9-BBCF-4A7B-9FC1-03D17FE3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A personal health information manager with the owner’s Solid Pod at the center.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98F83-11E6-4F12-B1DD-EEE71CA2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7625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44736-D651-45F2-A31B-2E3D5BF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820"/>
                </a:solidFill>
              </a:defRPr>
            </a:pPr>
            <a:r>
              <a:rPr sz="2100" b="1">
                <a:solidFill>
                  <a:srgbClr val="0B1820"/>
                </a:solidFill>
              </a:rPr>
              <a:t>Owner-controlled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4AB11-48C1-453E-8772-5435084A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Local Solid Community Server + authenticated Pod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2F285-FD35-4081-A70B-7A524778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11 domain APIs for health records, documents, insurance, providers, and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BF5A4-6E29-4030-B1E6-B65D437E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RDF/Turtle storage with ShEx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AC648-E486-4FC4-A96E-0B80A8FE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Owner-approved anonymized release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FC9B1-7D1A-4B77-8BA2-2016E294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47625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BF8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82600-00F2-4CF1-99B5-BF2BB47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820"/>
                </a:solidFill>
              </a:defRPr>
            </a:pPr>
            <a:r>
              <a:rPr sz="2100" b="1">
                <a:solidFill>
                  <a:srgbClr val="0B1820"/>
                </a:solidFill>
              </a:rPr>
              <a:t>Integration 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E63CB-F691-4D44-B779-7C6029F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Epic SMART/FHIR connector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A103F-B189-4684-806E-092DA6F3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HealthKitBridge status observability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4A5B1-38BE-409B-BE0D-3EABE929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FHIR-style coded domains: SNOMED, RxNorm, CVX, LOINC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BEF01-619C-4099-A352-755F4FB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Preview, reconciliation, and selected apply before Pod writes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ff9b5bbeb4a8c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BC9E8-D052-4BA5-A591-B57915F2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0D1B0-D973-4818-96D3-40EE8752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v1 pitch  ·  04</a:t>
            </a:r>
          </a:p>
        </p:txBody>
      </p:sp>
    </p:spTree>
    <p:extLst>
      <p:ext uri="{BB962C8B-B14F-4D97-AF65-F5344CB8AC3E}">
        <p14:creationId xmlns:p14="http://schemas.microsoft.com/office/powerpoint/2010/main" val="363350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B0AE1-3024-4C29-8E57-DE74898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1B339-D5D1-401A-A14A-53FC5E41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A8E7C-BCDA-4B16-A777-9C6BE015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WHY IT IS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E598B-D265-4EA4-9E09-C014133F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The source of authority moves from the vendor cloud to the individual.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5D371-739B-4E20-B1B7-4140C9A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4286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6E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BAA6D-EDAD-4D37-A6AC-5E16335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47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6D5B"/>
                </a:solidFill>
              </a:defRPr>
            </a:pPr>
            <a:r>
              <a:rPr sz="2250" b="1">
                <a:solidFill>
                  <a:srgbClr val="F26D5B"/>
                </a:solidFill>
              </a:rPr>
              <a:t>Most health apps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0F8E8-082B-429E-BDFD-7105130D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7180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820"/>
                </a:solidFill>
              </a:defRPr>
            </a:pPr>
            <a:r>
              <a:rPr sz="1800" b="0">
                <a:solidFill>
                  <a:srgbClr val="0B1820"/>
                </a:solidFill>
              </a:rPr>
              <a:t>Aggregate PHI into a service-controlled cloud database, then add consent on top.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4691F-C15F-41B4-AD01-0E838A3F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4286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43E66-B51B-4A09-AB19-410F197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A58D"/>
                </a:solidFill>
              </a:defRPr>
            </a:pPr>
            <a:r>
              <a:rPr sz="2250" b="1">
                <a:solidFill>
                  <a:srgbClr val="1FA58D"/>
                </a:solidFill>
              </a:rPr>
              <a:t>OpenCommons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5E1C1-E144-43C0-A711-DB91B005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820"/>
                </a:solidFill>
              </a:defRPr>
            </a:pPr>
            <a:r>
              <a:rPr sz="1800" b="0">
                <a:solidFill>
                  <a:srgbClr val="0B1820"/>
                </a:solidFill>
              </a:rPr>
              <a:t>Keeps identifiable PHI in the owner’s Pod; apps and partners become clients of owner authority.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02B42-A269-497F-8404-F71F3013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820"/>
                </a:solidFill>
              </a:defRPr>
            </a:pPr>
            <a:r>
              <a:rPr sz="1650" b="1">
                <a:solidFill>
                  <a:srgbClr val="0B1820"/>
                </a:solidFill>
              </a:rPr>
              <a:t>Strategic implication: partners can build useful health workflows without requiring OpenCommons to become the central custodian of every user’s identifiable record.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5ef9abd224d8f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30D77-681E-4E52-B842-A4C342B7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2746B-CFFC-42DC-9238-45CF9422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v1 pitch  ·  05</a:t>
            </a:r>
          </a:p>
        </p:txBody>
      </p:sp>
    </p:spTree>
    <p:extLst>
      <p:ext uri="{BB962C8B-B14F-4D97-AF65-F5344CB8AC3E}">
        <p14:creationId xmlns:p14="http://schemas.microsoft.com/office/powerpoint/2010/main" val="1516322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E1C51-96D9-4004-9204-DAA7AED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D7809-81B2-440F-995D-1DA1A861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8CCBA-DE74-46BA-8BAD-65F54673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BEACHHEAD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F1BB3-97BD-46E1-9D0E-1694D7AF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9FBFA"/>
                </a:solidFill>
              </a:defRPr>
            </a:pPr>
            <a:r>
              <a:rPr sz="2925" b="1">
                <a:solidFill>
                  <a:srgbClr val="F9FBFA"/>
                </a:solidFill>
              </a:rPr>
              <a:t>Annual Medicare Wellness is the wedge: high-value, recurring, multi-source, consent-heavy.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C7B0B-A9F8-4242-BC82-ECC1DB30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238375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8CC23-C45F-450C-AB5B-BD2AEE34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2D7C4"/>
                </a:solidFill>
              </a:defRPr>
            </a:pPr>
            <a:r>
              <a:rPr sz="1875" b="1">
                <a:solidFill>
                  <a:srgbClr val="62D7C4"/>
                </a:solidFill>
              </a:rPr>
              <a:t>Before visit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6285F-8F24-47EF-816B-8FD0A46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90825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Owner record</a:t>
            </a:r>
          </a:p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status +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96ADB-B37D-4C14-A185-A559EF22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238375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6679A-7FA6-443A-BACA-1A63D4A1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00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2D7C4"/>
                </a:solidFill>
              </a:defRPr>
            </a:pPr>
            <a:r>
              <a:rPr sz="1875" b="1">
                <a:solidFill>
                  <a:srgbClr val="62D7C4"/>
                </a:solidFill>
              </a:rPr>
              <a:t>During visit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8D175-A95D-4F0C-9CAB-E8F33068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90825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Vitals, meds,</a:t>
            </a:r>
          </a:p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conditions, care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4B686-5F1B-481C-926B-F24C7CC5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238375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B7BAA-AF98-4626-9DAF-056D919B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0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2D7C4"/>
                </a:solidFill>
              </a:defRPr>
            </a:pPr>
            <a:r>
              <a:rPr sz="1875" b="1">
                <a:solidFill>
                  <a:srgbClr val="62D7C4"/>
                </a:solidFill>
              </a:rPr>
              <a:t>After visit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60215-4399-4C75-B3F7-7A24477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90825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Documents,</a:t>
            </a:r>
          </a:p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recommendations,</a:t>
            </a:r>
          </a:p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follow-up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246F1-1903-4CEC-B82A-BE078FDE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52625"/>
            <a:ext cx="2238375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0825A-4797-4C1A-9047-A10F3845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00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2D7C4"/>
                </a:solidFill>
              </a:defRPr>
            </a:pPr>
            <a:r>
              <a:rPr sz="1875" b="1">
                <a:solidFill>
                  <a:srgbClr val="62D7C4"/>
                </a:solidFill>
              </a:rPr>
              <a:t>Ongoing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BFC70-7CE1-4509-A557-809219D7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90825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HealthKit +</a:t>
            </a:r>
          </a:p>
          <a:p xmlns:a="http://schemas.openxmlformats.org/drawingml/2006/main">
            <a:pPr algn="ctr"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owner updates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8B6DC-99B1-42EB-8274-C7F0300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7F2EB"/>
                </a:solidFill>
              </a:defRPr>
            </a:pPr>
            <a:r>
              <a:rPr sz="2025" b="1">
                <a:solidFill>
                  <a:srgbClr val="D7F2EB"/>
                </a:solidFill>
              </a:rPr>
              <a:t>One workflow touches the full value proposition: import, reconcile, store, explain, and selectively release — with the patient in control.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148bf5e624f93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6C35D-2302-456E-96CE-DDDBFB4B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F14EA-115A-46C7-8B49-B2CDE97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v1 pitch  ·  06</a:t>
            </a:r>
          </a:p>
        </p:txBody>
      </p:sp>
    </p:spTree>
    <p:extLst>
      <p:ext uri="{BB962C8B-B14F-4D97-AF65-F5344CB8AC3E}">
        <p14:creationId xmlns:p14="http://schemas.microsoft.com/office/powerpoint/2010/main" val="1666737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BC725-8538-45A9-B41A-1A7A7CE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5231B-D640-48C2-AC02-9BFA9AF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7DFE-C394-46C7-A54B-85441D5E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PARTNER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D2913-9EBA-4703-85CC-BB12D74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OpenCommons lets partners participate in health data workflows without owning the patient.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C767-1D57-427A-887D-739AF2BC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F43C0-FD61-4067-98B3-CBFB5747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Health 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7C567-13F2-418B-B3CB-E99B0962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Lower-friction patient-facing import, review, and longitudinal preparation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DECB0-154D-42A7-A774-ACDA772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24327-83E8-40CE-9F64-09BBF368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Payers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B58A2-67E5-42F3-BBB7-0BC488B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Owner-mediated records and documents that can complement Patient Access API strategy.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74FB5-8B95-4600-8522-8E050051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98F0C-34B7-4ABF-9276-0CDA3E1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Device ecosystems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025F6-EAFC-455B-913D-C527BBB1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A privacy-preserving landing zone for authorized local telemetry and summaries.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36C5A-F804-4A18-A79D-65723A6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C8636-C11A-4DA5-9D07-35284E6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Research + public good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ECA24-FFAF-4747-87C2-BF7649A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Anonymized, owner-approved release — not raw PHI resale.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49c4ad75e4492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C78EC-3D63-48F6-8076-949CD20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7A0A3-E45E-4A40-B88C-4673DCB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v1 pitch  ·  07</a:t>
            </a:r>
          </a:p>
        </p:txBody>
      </p:sp>
    </p:spTree>
    <p:extLst>
      <p:ext uri="{BB962C8B-B14F-4D97-AF65-F5344CB8AC3E}">
        <p14:creationId xmlns:p14="http://schemas.microsoft.com/office/powerpoint/2010/main" val="1446977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C90A6-2724-41C2-8B7A-EA3BD09E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D3BAC-DCB4-484D-A0CA-E6E4924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53DAF-6A0C-4016-AB0D-01303ADB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COMMERCIAL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A26C3-5472-4674-98E2-B2A23E71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The business model rewards trust, not data capture.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BAB5C-F5F3-4180-8F2E-F3C6199C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9810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C5DA4-EBB4-49D7-A8B9-47ADC42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C14E"/>
                </a:solidFill>
              </a:defRPr>
            </a:pPr>
            <a:r>
              <a:rPr sz="2550" b="1">
                <a:solidFill>
                  <a:srgbClr val="F2C14E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4BCE3-F784-496F-8AEB-0AA5DDC5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Design-partner pilots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1CFFC-1474-4CC9-AA77-15FEE39C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43B"/>
                </a:solidFill>
              </a:defRPr>
            </a:pPr>
            <a:r>
              <a:rPr sz="1350" b="0">
                <a:solidFill>
                  <a:srgbClr val="23343B"/>
                </a:solidFill>
              </a:rPr>
              <a:t>Paid pilots with health systems, payer innovation teams, senior-care networks, and device partners.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4BE42-E9A6-4097-A72C-6D8607EC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C14E"/>
                </a:solidFill>
              </a:defRPr>
            </a:pPr>
            <a:r>
              <a:rPr sz="2550" b="1">
                <a:solidFill>
                  <a:srgbClr val="F2C14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03C51-FB90-4182-AE67-F186C82B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Integration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2FF16-6F34-4AC1-B219-F355A2E8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052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43B"/>
                </a:solidFill>
              </a:defRPr>
            </a:pPr>
            <a:r>
              <a:rPr sz="1350" b="0">
                <a:solidFill>
                  <a:srgbClr val="23343B"/>
                </a:solidFill>
              </a:rPr>
              <a:t>Connector, mapping, validation, deployment, and support packages for standards-based data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44D30-E2C3-4673-A2F3-5F80BF5E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C14E"/>
                </a:solidFill>
              </a:defRPr>
            </a:pPr>
            <a:r>
              <a:rPr sz="2550" b="1">
                <a:solidFill>
                  <a:srgbClr val="F2C14E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D6C1B-26B1-4581-A04C-4BC3880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Personal client tier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06D19-7DD9-4439-BECB-AF6DE713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43B"/>
                </a:solidFill>
              </a:defRPr>
            </a:pPr>
            <a:r>
              <a:rPr sz="1350" b="0">
                <a:solidFill>
                  <a:srgbClr val="23343B"/>
                </a:solidFill>
              </a:rPr>
              <a:t>Premium local/native experiences for individuals and caregivers, with no PHI resale dependency.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6C9C8-7C40-4A5B-96D7-72BBC691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820"/>
                </a:solidFill>
              </a:defRPr>
            </a:pPr>
            <a:r>
              <a:rPr sz="1725" b="1">
                <a:solidFill>
                  <a:srgbClr val="0B1820"/>
                </a:solidFill>
              </a:rPr>
              <a:t>VC thesis: a trust-native product can unlock regulated partnership value without taking the most expensive custody posture by default.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184ce9c764d4c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FF44C-E340-4DA2-9964-33E0492D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2B28A-0C1B-44FD-A7FB-E8D165AC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v1 pitch  ·  08</a:t>
            </a:r>
          </a:p>
        </p:txBody>
      </p:sp>
    </p:spTree>
    <p:extLst>
      <p:ext uri="{BB962C8B-B14F-4D97-AF65-F5344CB8AC3E}">
        <p14:creationId xmlns:p14="http://schemas.microsoft.com/office/powerpoint/2010/main" val="1118938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50570-2138-4D0A-9421-EDA9AF61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96ABC-0B73-4148-9904-5169524B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B55C1-6049-48C2-AC42-3E53566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DEFENSIBILITY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98EB4-81B3-4873-B87D-3C5A6C3B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9FBFA"/>
                </a:solidFill>
              </a:defRPr>
            </a:pPr>
            <a:r>
              <a:rPr sz="2925" b="1">
                <a:solidFill>
                  <a:srgbClr val="F9FBFA"/>
                </a:solidFill>
              </a:rPr>
              <a:t>The moat is earned through trust architecture plus integration depth.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FBA35-BE98-4266-AACF-1DD235D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Trust posture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E49AD-43F6-4FB9-8B6B-FE6ACD55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Local-first, owner-mediated, anonymized release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D9162-484C-43F9-9BFA-6EF93DC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8ECE4-9465-48C5-8ACA-6CECD3B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Standards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CC786-4D5F-41EB-8333-CC3C53D6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051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FHIR-style domains, SMART/FHIR, Solid, ShEx, OpenAPI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AE0C6-EA0D-4923-9882-7E8426E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40F4-160D-4966-886E-839FEA7A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Deployment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D7771-A764-4D82-864F-9DA37E44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Repeatable localhost/container stack, configurable ports, validation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26395-DBBA-44AF-A70D-0F6F44D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E06B0-F729-4D8D-8762-5FF4371D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Workflow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13A42-9276-44DB-90FD-F58C413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Preview, reconciliation, provenance, audit, and domain-specific UX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3A27E-99B2-4D50-8B15-06AF181C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6d00e65c443aa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38234-E95E-4391-B3CE-28EFE766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13FC6-B317-47D0-8B50-D3AF050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v1 pitch  ·  09</a:t>
            </a:r>
          </a:p>
        </p:txBody>
      </p:sp>
    </p:spTree>
    <p:extLst>
      <p:ext uri="{BB962C8B-B14F-4D97-AF65-F5344CB8AC3E}">
        <p14:creationId xmlns:p14="http://schemas.microsoft.com/office/powerpoint/2010/main" val="1799553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B83CB-DE61-4280-846B-BD174DB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A2CF1-483B-4149-8622-E84F2C31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02802-4B94-4D8B-8E6F-88536152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070AC-DC5A-43B8-86C7-D67286FF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The next 12 months should prove live integrations and partner utility.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308A5-B510-4266-A6C0-0E5B0A19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9CE3D-FBFF-436A-8B75-22D2DF0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Now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Local MVP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11 domains + Pod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64F0D-B02D-4829-85BD-184421DB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527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A5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BB38C-E3B3-4B4A-9F25-74BE3629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B78BE-7076-4888-AADC-EA58DEA5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Next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Epic sandbox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JWT + preview diagnostics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E2D57-0241-4798-8491-8B8564A7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27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A5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55829-F87C-4140-A05B-6127580E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804A6-69F7-4EBF-902A-5A8B5E36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Pilot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Annual Wellness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partner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412E9-4EE8-4F91-85BB-F76BE4F6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527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A5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9FBD9-6429-436C-B1CA-93BAF241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A8A50-71B0-4E46-8E7E-5EE73F46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Expand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Documents, workflow,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HealthKit bridge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81DDC-6E31-4775-BBD2-8685E791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527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A5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8796C-8D8F-46A3-8EE6-DBDC3F13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00A44-7255-4B28-8928-22EB5833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Scale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Native + hosted</a:t>
            </a:r>
          </a:p>
          <a:p xmlns:a="http://schemas.openxmlformats.org/drawingml/2006/main">
            <a:pPr algn="ctr"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enterprise 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85677-D296-4320-9D29-68D8CA68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Milestone discipline: keep the localhost MVP stable while using partner pilots to prove which data flows create willingness to pay.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4A051-0B12-43A1-8193-05B9411D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43B"/>
                </a:solidFill>
              </a:defRPr>
            </a:pPr>
            <a:r>
              <a:rPr sz="1500" b="0">
                <a:solidFill>
                  <a:srgbClr val="23343B"/>
                </a:solidFill>
              </a:rPr>
              <a:t>Do not jump straight to public hosted PHI custody. Prove the workflow, trust model, and standards integration first.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422b81a6946fc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60F4E-E34E-414F-807E-CDAC9917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7AFE2-9893-478A-8C0D-3544A5F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v1 pitch  ·  10</a:t>
            </a:r>
          </a:p>
        </p:txBody>
      </p:sp>
    </p:spTree>
    <p:extLst>
      <p:ext uri="{BB962C8B-B14F-4D97-AF65-F5344CB8AC3E}">
        <p14:creationId xmlns:p14="http://schemas.microsoft.com/office/powerpoint/2010/main" val="5960729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AA392-F635-4358-9E57-DBA9220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5F25D-FB91-46CF-95FF-48351696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ACC7B-AD46-4D0A-A68B-89BD5E9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WHY THIS WINS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8D26D-8A55-4084-85B1-17F92BD7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OpenCommons can become the neutral health data wallet partners can trust.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C440-AAC1-443D-97DA-7ADAFC55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6202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8FB49-6BF1-484A-8107-5E08D97D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820"/>
                </a:solidFill>
              </a:defRPr>
            </a:pPr>
            <a:r>
              <a:rPr sz="2700" b="1">
                <a:solidFill>
                  <a:srgbClr val="0B1820"/>
                </a:solidFill>
              </a:rPr>
              <a:t>The wedge is not “another PHR.”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87EDF-FB88-4C5C-83EC-145B2077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809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1820"/>
                </a:solidFill>
              </a:defRPr>
            </a:pPr>
            <a:r>
              <a:rPr sz="2100" b="0">
                <a:solidFill>
                  <a:srgbClr val="0B1820"/>
                </a:solidFill>
              </a:rPr>
              <a:t>It is a personal health data operating layer: local authority, standards-shaped records, patient-mediated imports, and permissioned outputs that are useful to partners because they are trustworthy to individuals.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41C97-2852-4AF5-8581-AD8D3525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A58D"/>
                </a:solidFill>
              </a:defRPr>
            </a:pPr>
            <a:r>
              <a:rPr sz="1575" b="1">
                <a:solidFill>
                  <a:srgbClr val="1FA58D"/>
                </a:solidFill>
              </a:rPr>
              <a:t>That is the rare overlap VCs and strategic partners both care about: large regulated market, standards tailwinds, trust-native architecture, and a clear wedge into recurring health workflows.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75523e9604b0a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64CED-D781-4DF8-92F2-A68CFF5C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EF022-56FE-4209-AC37-DC70E25D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v1 pitch  ·  11</a:t>
            </a:r>
          </a:p>
        </p:txBody>
      </p:sp>
    </p:spTree>
    <p:extLst>
      <p:ext uri="{BB962C8B-B14F-4D97-AF65-F5344CB8AC3E}">
        <p14:creationId xmlns:p14="http://schemas.microsoft.com/office/powerpoint/2010/main" val="6032132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9BF1F-EA3D-4519-B8C8-B6A583B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A5D74-23EB-41CD-BB24-8611BD91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54B76-B6E8-4313-89F8-09FACD3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ABBD8-1F2C-476F-A572-7F6DF665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885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9FBFA"/>
                </a:solidFill>
              </a:defRPr>
            </a:pPr>
            <a:r>
              <a:rPr sz="3750" b="1">
                <a:solidFill>
                  <a:srgbClr val="F9FBFA"/>
                </a:solidFill>
              </a:rPr>
              <a:t>Let’s prove the patient-owned data layer with the right pilots.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BAD58-4ED9-4D6C-B2F0-6CBDD014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2D7C4"/>
                </a:solidFill>
              </a:defRPr>
            </a:pPr>
            <a:r>
              <a:rPr sz="2025" b="1">
                <a:solidFill>
                  <a:srgbClr val="62D7C4"/>
                </a:solidFill>
              </a:rPr>
              <a:t>Strategic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9FE41-DA06-468A-A609-C679BDC5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F2EB"/>
                </a:solidFill>
              </a:defRPr>
            </a:pPr>
            <a:r>
              <a:rPr sz="1725" b="0">
                <a:solidFill>
                  <a:srgbClr val="D7F2EB"/>
                </a:solidFill>
              </a:rPr>
              <a:t>2–3 design partners around Annual Wellness, document import, or caregiver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87FB9-A3FA-4DFC-9115-DB30260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2D7C4"/>
                </a:solidFill>
              </a:defRPr>
            </a:pPr>
            <a:r>
              <a:rPr sz="2025" b="1">
                <a:solidFill>
                  <a:srgbClr val="62D7C4"/>
                </a:solidFill>
              </a:rPr>
              <a:t>Capital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71735-FB14-4676-97A7-2047FB79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F2EB"/>
                </a:solidFill>
              </a:defRPr>
            </a:pPr>
            <a:r>
              <a:rPr sz="1725" b="0">
                <a:solidFill>
                  <a:srgbClr val="D7F2EB"/>
                </a:solidFill>
              </a:rPr>
              <a:t>Seed capital to harden live Epic/HealthKit integrations, security posture, and pilot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61E77-84B5-45EC-8ECC-2432579C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2D7C4"/>
                </a:solidFill>
              </a:defRPr>
            </a:pPr>
            <a:r>
              <a:rPr sz="2025" b="1">
                <a:solidFill>
                  <a:srgbClr val="62D7C4"/>
                </a:solidFill>
              </a:rPr>
              <a:t>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72266-C395-4DEA-9E5E-1C68997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9582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F2EB"/>
                </a:solidFill>
              </a:defRPr>
            </a:pPr>
            <a:r>
              <a:rPr sz="1725" b="0">
                <a:solidFill>
                  <a:srgbClr val="D7F2EB"/>
                </a:solidFill>
              </a:rPr>
              <a:t>A measured pilot: connection success, records reconciled, owner-approved writes, partner workflow value.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FFF44-269D-48F7-AFD4-3D47094E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FBFA"/>
                </a:solidFill>
              </a:defRPr>
            </a:pPr>
            <a:r>
              <a:rPr sz="1650" b="1">
                <a:solidFill>
                  <a:srgbClr val="F9FBFA"/>
                </a:solidFill>
              </a:rPr>
              <a:t>OpenCommons Health PIM · personal health, held by you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cd8abb6e94889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734F4-9817-4C15-81B0-D5D77627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76809-FD92-4AD6-9326-18CB5CA0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v1 pitch  ·  12</a:t>
            </a:r>
          </a:p>
        </p:txBody>
      </p:sp>
    </p:spTree>
    <p:extLst>
      <p:ext uri="{BB962C8B-B14F-4D97-AF65-F5344CB8AC3E}">
        <p14:creationId xmlns:p14="http://schemas.microsoft.com/office/powerpoint/2010/main" val="51215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2026-08-10T00:01:04.7830000Z</dcterms:created>
  <dcterms:modified xsi:type="dcterms:W3CDTF">2026-08-10T00:01:04.7830000Z</dcterms:modified>
</coreProperties>
</file>